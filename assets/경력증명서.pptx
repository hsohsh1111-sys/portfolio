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6" r:id="rId2"/>
    <p:sldId id="271" r:id="rId3"/>
    <p:sldId id="279" r:id="rId4"/>
    <p:sldId id="281" r:id="rId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271"/>
            <p14:sldId id="279"/>
            <p14:sldId id="281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24726"/>
    <a:srgbClr val="404040"/>
    <a:srgbClr val="FF9B45"/>
    <a:srgbClr val="DD462F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241" autoAdjust="0"/>
  </p:normalViewPr>
  <p:slideViewPr>
    <p:cSldViewPr snapToGrid="0">
      <p:cViewPr varScale="1">
        <p:scale>
          <a:sx n="108" d="100"/>
          <a:sy n="108" d="100"/>
        </p:scale>
        <p:origin x="516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역량 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E29-46D8-A412-76EAF376329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E29-46D8-A412-76EAF376329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E29-46D8-A412-76EAF376329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E29-46D8-A412-76EAF3763290}"/>
              </c:ext>
            </c:extLst>
          </c:dPt>
          <c:cat>
            <c:strRef>
              <c:f>Sheet1!$A$2:$A$5</c:f>
              <c:strCache>
                <c:ptCount val="4"/>
                <c:pt idx="0">
                  <c:v>제품 개발 </c:v>
                </c:pt>
                <c:pt idx="1">
                  <c:v>Technical Servise </c:v>
                </c:pt>
                <c:pt idx="2">
                  <c:v>물성 평가 </c:v>
                </c:pt>
                <c:pt idx="3">
                  <c:v>Project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10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E3-4B1D-906E-6AC7D70148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열1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E29-46D8-A412-76EAF376329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E29-46D8-A412-76EAF376329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CE29-46D8-A412-76EAF376329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CE29-46D8-A412-76EAF3763290}"/>
              </c:ext>
            </c:extLst>
          </c:dPt>
          <c:cat>
            <c:strRef>
              <c:f>Sheet1!$A$2:$A$5</c:f>
              <c:strCache>
                <c:ptCount val="4"/>
                <c:pt idx="0">
                  <c:v>제품 개발 </c:v>
                </c:pt>
                <c:pt idx="1">
                  <c:v>Technical Servise </c:v>
                </c:pt>
                <c:pt idx="2">
                  <c:v>물성 평가 </c:v>
                </c:pt>
                <c:pt idx="3">
                  <c:v>Project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05E3-4B1D-906E-6AC7D70148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열2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CE29-46D8-A412-76EAF376329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CE29-46D8-A412-76EAF376329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CE29-46D8-A412-76EAF376329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CE29-46D8-A412-76EAF3763290}"/>
              </c:ext>
            </c:extLst>
          </c:dPt>
          <c:cat>
            <c:strRef>
              <c:f>Sheet1!$A$2:$A$5</c:f>
              <c:strCache>
                <c:ptCount val="4"/>
                <c:pt idx="0">
                  <c:v>제품 개발 </c:v>
                </c:pt>
                <c:pt idx="1">
                  <c:v>Technical Servise </c:v>
                </c:pt>
                <c:pt idx="2">
                  <c:v>물성 평가 </c:v>
                </c:pt>
                <c:pt idx="3">
                  <c:v>Project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05E3-4B1D-906E-6AC7D70148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0.54904</cdr:x>
      <cdr:y>0.43858</cdr:y>
    </cdr:from>
    <cdr:to>
      <cdr:x>0.7725</cdr:x>
      <cdr:y>0.57122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3DEA3E0A-0B9A-E133-65D5-2080116999DC}"/>
            </a:ext>
          </a:extLst>
        </cdr:cNvPr>
        <cdr:cNvSpPr/>
      </cdr:nvSpPr>
      <cdr:spPr>
        <a:xfrm xmlns:a="http://schemas.openxmlformats.org/drawingml/2006/main">
          <a:off x="2997461" y="1720903"/>
          <a:ext cx="1219943" cy="52042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ko-KR" altLang="en-US" sz="1200" b="1" dirty="0">
              <a:solidFill>
                <a:schemeClr val="tx1"/>
              </a:solidFill>
            </a:rPr>
            <a:t>거래선 대응 </a:t>
          </a:r>
          <a:endParaRPr lang="en-US" altLang="ko-KR" sz="1200" b="1" dirty="0">
            <a:solidFill>
              <a:schemeClr val="tx1"/>
            </a:solidFill>
          </a:endParaRPr>
        </a:p>
        <a:p xmlns:a="http://schemas.openxmlformats.org/drawingml/2006/main">
          <a:r>
            <a:rPr lang="ko-KR" altLang="en-US" sz="1200" b="1" dirty="0">
              <a:solidFill>
                <a:schemeClr val="tx1"/>
              </a:solidFill>
            </a:rPr>
            <a:t>제품 개발 </a:t>
          </a:r>
          <a:endParaRPr lang="ko-KR" sz="1200" b="1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0.31891</cdr:x>
      <cdr:y>0.67541</cdr:y>
    </cdr:from>
    <cdr:to>
      <cdr:x>0.60912</cdr:x>
      <cdr:y>0.80804</cdr:y>
    </cdr:to>
    <cdr:sp macro="" textlink="">
      <cdr:nvSpPr>
        <cdr:cNvPr id="3" name="직사각형 2">
          <a:extLst xmlns:a="http://schemas.openxmlformats.org/drawingml/2006/main">
            <a:ext uri="{FF2B5EF4-FFF2-40B4-BE49-F238E27FC236}">
              <a16:creationId xmlns:a16="http://schemas.microsoft.com/office/drawing/2014/main" id="{03C19A90-D0B5-AE22-0854-C6F64D488423}"/>
            </a:ext>
          </a:extLst>
        </cdr:cNvPr>
        <cdr:cNvSpPr/>
      </cdr:nvSpPr>
      <cdr:spPr>
        <a:xfrm xmlns:a="http://schemas.openxmlformats.org/drawingml/2006/main">
          <a:off x="1906862" y="3149334"/>
          <a:ext cx="1735232" cy="61844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1200" b="1" dirty="0" err="1">
              <a:solidFill>
                <a:schemeClr val="tx1"/>
              </a:solidFill>
            </a:rPr>
            <a:t>Technicla</a:t>
          </a:r>
          <a:r>
            <a:rPr lang="en-US" altLang="ko-KR" sz="1200" b="1" dirty="0">
              <a:solidFill>
                <a:schemeClr val="tx1"/>
              </a:solidFill>
            </a:rPr>
            <a:t> </a:t>
          </a:r>
          <a:r>
            <a:rPr lang="en-US" altLang="ko-KR" sz="1200" b="1" dirty="0" err="1">
              <a:solidFill>
                <a:schemeClr val="tx1"/>
              </a:solidFill>
            </a:rPr>
            <a:t>Servise</a:t>
          </a:r>
          <a:endParaRPr lang="en-US" altLang="ko-KR" sz="1200" b="1" dirty="0">
            <a:solidFill>
              <a:schemeClr val="tx1"/>
            </a:solidFill>
          </a:endParaRPr>
        </a:p>
        <a:p xmlns:a="http://schemas.openxmlformats.org/drawingml/2006/main">
          <a:r>
            <a:rPr lang="ko-KR" altLang="en-US" sz="1200" b="1" dirty="0">
              <a:solidFill>
                <a:schemeClr val="tx1"/>
              </a:solidFill>
            </a:rPr>
            <a:t>라인 안정화 </a:t>
          </a:r>
          <a:endParaRPr lang="en-US" altLang="ko-KR" sz="1200" b="1" dirty="0">
            <a:solidFill>
              <a:schemeClr val="tx1"/>
            </a:solidFill>
          </a:endParaRPr>
        </a:p>
        <a:p xmlns:a="http://schemas.openxmlformats.org/drawingml/2006/main">
          <a:endParaRPr lang="ko-KR" sz="1200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0.20979</cdr:x>
      <cdr:y>0.46694</cdr:y>
    </cdr:from>
    <cdr:to>
      <cdr:x>0.5</cdr:x>
      <cdr:y>0.59958</cdr:y>
    </cdr:to>
    <cdr:sp macro="" textlink="">
      <cdr:nvSpPr>
        <cdr:cNvPr id="4" name="직사각형 3">
          <a:extLst xmlns:a="http://schemas.openxmlformats.org/drawingml/2006/main">
            <a:ext uri="{FF2B5EF4-FFF2-40B4-BE49-F238E27FC236}">
              <a16:creationId xmlns:a16="http://schemas.microsoft.com/office/drawing/2014/main" id="{D88FAA16-3406-C4BA-E9A6-EC69BE9C08B5}"/>
            </a:ext>
          </a:extLst>
        </cdr:cNvPr>
        <cdr:cNvSpPr/>
      </cdr:nvSpPr>
      <cdr:spPr>
        <a:xfrm xmlns:a="http://schemas.openxmlformats.org/drawingml/2006/main">
          <a:off x="1254427" y="2177288"/>
          <a:ext cx="1735232" cy="61844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1200" b="1" dirty="0">
              <a:solidFill>
                <a:schemeClr val="tx1"/>
              </a:solidFill>
            </a:rPr>
            <a:t>OEM </a:t>
          </a:r>
          <a:r>
            <a:rPr lang="ko-KR" altLang="en-US" sz="1200" b="1" dirty="0">
              <a:solidFill>
                <a:schemeClr val="tx1"/>
              </a:solidFill>
            </a:rPr>
            <a:t>규격 평가 </a:t>
          </a:r>
          <a:endParaRPr lang="en-US" altLang="ko-KR" sz="1200" b="1" dirty="0">
            <a:solidFill>
              <a:schemeClr val="tx1"/>
            </a:solidFill>
          </a:endParaRPr>
        </a:p>
        <a:p xmlns:a="http://schemas.openxmlformats.org/drawingml/2006/main">
          <a:r>
            <a:rPr lang="ko-KR" altLang="en-US" sz="1200" b="1" dirty="0">
              <a:solidFill>
                <a:schemeClr val="tx1"/>
              </a:solidFill>
            </a:rPr>
            <a:t>불량 분석 </a:t>
          </a:r>
          <a:endParaRPr lang="ko-KR" sz="1200" dirty="0">
            <a:solidFill>
              <a:schemeClr val="tx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2026-09-02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2026-09-02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954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4192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375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8A05DDD-DBD6-4880-90DB-80726A170D63}" type="datetime1">
              <a:rPr lang="ko-KR" altLang="en-US" noProof="0" smtClean="0"/>
              <a:t>2026-09-02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C48B989-0AC6-43D9-95B5-DB76B2CC2531}" type="datetime1">
              <a:rPr lang="ko-KR" altLang="en-US" noProof="0" smtClean="0"/>
              <a:t>2026-09-02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ko-KR" altLang="en-US" sz="4800" dirty="0">
                <a:solidFill>
                  <a:schemeClr val="bg1"/>
                </a:solidFill>
              </a:rPr>
              <a:t>경력 기술서 </a:t>
            </a:r>
            <a:r>
              <a:rPr lang="en-US" altLang="ko-KR" sz="4800" dirty="0">
                <a:solidFill>
                  <a:schemeClr val="bg1"/>
                </a:solidFill>
              </a:rPr>
              <a:t> 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38200" y="3271552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ko-KR" altLang="en-US" sz="2400" dirty="0">
                <a:solidFill>
                  <a:schemeClr val="bg1"/>
                </a:solidFill>
              </a:rPr>
              <a:t>분체 연구 </a:t>
            </a:r>
            <a:r>
              <a:rPr lang="en-US" altLang="ko-KR" sz="2400" dirty="0">
                <a:solidFill>
                  <a:schemeClr val="bg1"/>
                </a:solidFill>
              </a:rPr>
              <a:t>&amp; </a:t>
            </a:r>
            <a:r>
              <a:rPr lang="ko-KR" altLang="en-US" sz="2400" dirty="0">
                <a:solidFill>
                  <a:schemeClr val="bg1"/>
                </a:solidFill>
              </a:rPr>
              <a:t>분체 </a:t>
            </a:r>
            <a:r>
              <a:rPr lang="en-US" altLang="ko-KR" sz="2400" dirty="0">
                <a:solidFill>
                  <a:schemeClr val="bg1"/>
                </a:solidFill>
              </a:rPr>
              <a:t>TSD 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r>
              <a:rPr lang="ko-KR" altLang="en-US" sz="2400" dirty="0" err="1">
                <a:solidFill>
                  <a:schemeClr val="bg1"/>
                </a:solidFill>
              </a:rPr>
              <a:t>황상옥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2094DC-6547-114C-5345-DE1969974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174" y="3823855"/>
            <a:ext cx="5826826" cy="303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2400" b="1" dirty="0">
                <a:cs typeface="Segoe UI Light" panose="020B0502040204020203" pitchFamily="34" charset="0"/>
              </a:rPr>
              <a:t>개요</a:t>
            </a:r>
            <a:r>
              <a:rPr lang="ko-KR" altLang="en-US" sz="2400" dirty="0"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DFFD6-145B-59DB-C04C-9CFC2035F674}"/>
              </a:ext>
            </a:extLst>
          </p:cNvPr>
          <p:cNvSpPr txBox="1"/>
          <p:nvPr/>
        </p:nvSpPr>
        <p:spPr>
          <a:xfrm>
            <a:off x="604603" y="1385113"/>
            <a:ext cx="3372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자기 소개 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497444-7C5F-7B06-8715-5649AC7E6C76}"/>
              </a:ext>
            </a:extLst>
          </p:cNvPr>
          <p:cNvSpPr txBox="1"/>
          <p:nvPr/>
        </p:nvSpPr>
        <p:spPr>
          <a:xfrm>
            <a:off x="604603" y="1754445"/>
            <a:ext cx="4411281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지원자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황 상 옥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생년 월일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1980 . 07. 01 </a:t>
            </a:r>
          </a:p>
          <a:p>
            <a:pPr marL="285750" indent="-285750">
              <a:buFontTx/>
              <a:buChar char="-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연락처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010-2678-2889</a:t>
            </a:r>
          </a:p>
          <a:p>
            <a:pPr marL="285750" indent="-285750">
              <a:buFontTx/>
              <a:buChar char="-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이메일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hsoksy1@naver.com</a:t>
            </a:r>
          </a:p>
          <a:p>
            <a:pPr marL="285750" indent="-285750">
              <a:buFontTx/>
              <a:buChar char="-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 력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천안 북일 고등학교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(1999.03) 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숭실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대학교 학사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(2008.03)</a:t>
            </a: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병 역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육군 보병 만기 제대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(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판문점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유엔사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경비대대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자격사항 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한자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급 자격증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한자 진흥회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화공 기사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한국 산업인력 공단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2008.06)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가스 기사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한국 산업인력 공단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2008.08)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수질 환경 기사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한국 산업인력 공단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2009.08) 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400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B318095-2E3B-D25D-FDBA-83F869041397}"/>
              </a:ext>
            </a:extLst>
          </p:cNvPr>
          <p:cNvCxnSpPr>
            <a:cxnSpLocks/>
          </p:cNvCxnSpPr>
          <p:nvPr/>
        </p:nvCxnSpPr>
        <p:spPr>
          <a:xfrm>
            <a:off x="6018810" y="1385113"/>
            <a:ext cx="77190" cy="4583876"/>
          </a:xfrm>
          <a:prstGeom prst="line">
            <a:avLst/>
          </a:prstGeom>
          <a:ln w="127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F86032F9-5CFC-8455-C208-B0304ABEC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203" y="1462303"/>
            <a:ext cx="1401635" cy="14821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C4332E6-92A3-174D-EB78-D9A9A14F5DB4}"/>
              </a:ext>
            </a:extLst>
          </p:cNvPr>
          <p:cNvSpPr txBox="1"/>
          <p:nvPr/>
        </p:nvSpPr>
        <p:spPr>
          <a:xfrm>
            <a:off x="6057405" y="1200447"/>
            <a:ext cx="3372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주요 경력 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4B2563-7AB1-6B69-AB8B-C76ABD4F7B22}"/>
              </a:ext>
            </a:extLst>
          </p:cNvPr>
          <p:cNvSpPr txBox="1"/>
          <p:nvPr/>
        </p:nvSpPr>
        <p:spPr>
          <a:xfrm>
            <a:off x="6096000" y="1595021"/>
            <a:ext cx="523422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핸즈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코퍼레이션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동화상협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- 1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도장 기술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주업무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도장 공정 관리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AKZONOBEL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분체도료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7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(~2018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 개발팀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주업무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거래선 요청 신제품 개발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(1)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삼성전자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LG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전자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가전사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신제품 개발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(2)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대원강업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성우오토모티브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현대 자동차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자동차용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분체도료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개발 및 라인 안정화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(3) INTERPON D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인증 업체 심사 및 관리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(4) JAPAN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진출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Hino truck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샤시프레임용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High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Tg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 런칭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및 공동 특허 출원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아케보노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NHK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등 안정화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KCC 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중앙연구소 </a:t>
            </a:r>
            <a:r>
              <a:rPr lang="ko-KR" altLang="en-US" sz="1400" b="1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분체도료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개발 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8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(~2026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POWDER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연구팀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주업무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프로젝트 및 신규 인증 제품 개발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(1)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Qualicoat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Class2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고내후성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분체도료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제품 인증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(2) GMW14664 type A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자동차용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분체도료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제품 인증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(3)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농기계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중장비용 제품 승인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HD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인프라코어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LS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엠트론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TYM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 다수 제품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(4)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방열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분체도료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차열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분체도료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Easy Cleaning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분체도료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ko-KR" altLang="en-US" sz="2400" b="1" dirty="0">
                <a:cs typeface="Segoe UI Light" panose="020B0502040204020203" pitchFamily="34" charset="0"/>
              </a:rPr>
              <a:t>업무 역량</a:t>
            </a:r>
            <a:endParaRPr lang="ko" sz="2400" b="1" dirty="0">
              <a:cs typeface="Segoe UI Light" panose="020B0502040204020203" pitchFamily="34" charset="0"/>
            </a:endParaRPr>
          </a:p>
        </p:txBody>
      </p:sp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AC21B1AB-3F7D-18EF-FA66-B5EA3D28B4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4786491"/>
              </p:ext>
            </p:extLst>
          </p:nvPr>
        </p:nvGraphicFramePr>
        <p:xfrm>
          <a:off x="6365082" y="1602231"/>
          <a:ext cx="5979318" cy="4662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70D8856B-2352-9578-1E15-696DF3FB3CBA}"/>
              </a:ext>
            </a:extLst>
          </p:cNvPr>
          <p:cNvSpPr/>
          <p:nvPr/>
        </p:nvSpPr>
        <p:spPr>
          <a:xfrm>
            <a:off x="8125605" y="2916687"/>
            <a:ext cx="1584352" cy="52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chemeClr val="tx1"/>
                </a:solidFill>
              </a:rPr>
              <a:t>신제품 개발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신기술 도입 </a:t>
            </a:r>
            <a:endParaRPr lang="ko-KR" sz="1200" b="1" dirty="0">
              <a:solidFill>
                <a:schemeClr val="tx1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3D78503-13C2-20CB-74E7-8625875F53EA}"/>
              </a:ext>
            </a:extLst>
          </p:cNvPr>
          <p:cNvGrpSpPr/>
          <p:nvPr/>
        </p:nvGrpSpPr>
        <p:grpSpPr>
          <a:xfrm>
            <a:off x="544366" y="1602231"/>
            <a:ext cx="6700977" cy="4509071"/>
            <a:chOff x="531552" y="1917997"/>
            <a:chExt cx="6700977" cy="4509071"/>
          </a:xfrm>
        </p:grpSpPr>
        <p:grpSp>
          <p:nvGrpSpPr>
            <p:cNvPr id="18" name="그룹 17" descr="1단계를 나타내는 숫자 1이 표시된 작은 원"/>
            <p:cNvGrpSpPr/>
            <p:nvPr/>
          </p:nvGrpSpPr>
          <p:grpSpPr bwMode="blackWhite">
            <a:xfrm>
              <a:off x="531552" y="1917997"/>
              <a:ext cx="558179" cy="409838"/>
              <a:chOff x="6953426" y="711274"/>
              <a:chExt cx="558179" cy="409838"/>
            </a:xfrm>
          </p:grpSpPr>
          <p:sp>
            <p:nvSpPr>
              <p:cNvPr id="19" name="타원 18" descr="작은 원"/>
              <p:cNvSpPr/>
              <p:nvPr/>
            </p:nvSpPr>
            <p:spPr bwMode="blackWhite">
              <a:xfrm>
                <a:off x="7025069" y="711274"/>
                <a:ext cx="409838" cy="409838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" name="텍스트 상자 19" descr="숫자 1"/>
              <p:cNvSpPr txBox="1">
                <a:spLocks noChangeAspect="1"/>
              </p:cNvSpPr>
              <p:nvPr/>
            </p:nvSpPr>
            <p:spPr bwMode="blackWhite">
              <a:xfrm>
                <a:off x="6953426" y="727564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ko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1</a:t>
                </a:r>
              </a:p>
            </p:txBody>
          </p:sp>
        </p:grpSp>
        <p:grpSp>
          <p:nvGrpSpPr>
            <p:cNvPr id="33" name="그룹 32" descr="2단계를 나타내는 숫자 2가 표시된 작은 원"/>
            <p:cNvGrpSpPr/>
            <p:nvPr/>
          </p:nvGrpSpPr>
          <p:grpSpPr bwMode="blackWhite">
            <a:xfrm>
              <a:off x="531552" y="3027271"/>
              <a:ext cx="558179" cy="409838"/>
              <a:chOff x="6953426" y="711274"/>
              <a:chExt cx="558179" cy="409838"/>
            </a:xfrm>
          </p:grpSpPr>
          <p:sp>
            <p:nvSpPr>
              <p:cNvPr id="34" name="타원 33" descr="작은 원"/>
              <p:cNvSpPr/>
              <p:nvPr/>
            </p:nvSpPr>
            <p:spPr bwMode="blackWhite">
              <a:xfrm>
                <a:off x="7025069" y="711274"/>
                <a:ext cx="409838" cy="409838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5" name="텍스트 상자 34" descr="숫자 2"/>
              <p:cNvSpPr txBox="1">
                <a:spLocks noChangeAspect="1"/>
              </p:cNvSpPr>
              <p:nvPr/>
            </p:nvSpPr>
            <p:spPr bwMode="blackWhite">
              <a:xfrm>
                <a:off x="6953426" y="727564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ko" b="1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2</a:t>
                </a:r>
              </a:p>
            </p:txBody>
          </p:sp>
        </p:grpSp>
        <p:grpSp>
          <p:nvGrpSpPr>
            <p:cNvPr id="22" name="그룹 21" descr="3단계를 나타내는 숫자 3이 표시된 작은 원"/>
            <p:cNvGrpSpPr/>
            <p:nvPr/>
          </p:nvGrpSpPr>
          <p:grpSpPr bwMode="blackWhite">
            <a:xfrm>
              <a:off x="531552" y="4208299"/>
              <a:ext cx="558179" cy="409838"/>
              <a:chOff x="6953426" y="711274"/>
              <a:chExt cx="558179" cy="409838"/>
            </a:xfrm>
          </p:grpSpPr>
          <p:sp>
            <p:nvSpPr>
              <p:cNvPr id="24" name="타원 23" descr="작은 원"/>
              <p:cNvSpPr/>
              <p:nvPr/>
            </p:nvSpPr>
            <p:spPr bwMode="blackWhite">
              <a:xfrm>
                <a:off x="7025069" y="711274"/>
                <a:ext cx="409838" cy="409838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0" name="텍스트 상자 29" descr="숫자 3"/>
              <p:cNvSpPr txBox="1">
                <a:spLocks noChangeAspect="1"/>
              </p:cNvSpPr>
              <p:nvPr/>
            </p:nvSpPr>
            <p:spPr bwMode="blackWhite">
              <a:xfrm>
                <a:off x="6953426" y="727564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ko" b="1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3</a:t>
                </a:r>
              </a:p>
            </p:txBody>
          </p:sp>
        </p:grpSp>
        <p:grpSp>
          <p:nvGrpSpPr>
            <p:cNvPr id="37" name="그룹 36" descr="4단계를 나타내는 숫자 4가 표시된 작은 원"/>
            <p:cNvGrpSpPr/>
            <p:nvPr/>
          </p:nvGrpSpPr>
          <p:grpSpPr bwMode="blackWhite">
            <a:xfrm>
              <a:off x="531552" y="5137379"/>
              <a:ext cx="558179" cy="409838"/>
              <a:chOff x="6953426" y="711274"/>
              <a:chExt cx="558179" cy="409838"/>
            </a:xfrm>
          </p:grpSpPr>
          <p:sp>
            <p:nvSpPr>
              <p:cNvPr id="38" name="타원 37" descr="작은 원"/>
              <p:cNvSpPr/>
              <p:nvPr/>
            </p:nvSpPr>
            <p:spPr bwMode="blackWhite">
              <a:xfrm>
                <a:off x="7025069" y="711274"/>
                <a:ext cx="409838" cy="409838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9" name="텍스트 상자 38" descr="숫자 4"/>
              <p:cNvSpPr txBox="1">
                <a:spLocks noChangeAspect="1"/>
              </p:cNvSpPr>
              <p:nvPr/>
            </p:nvSpPr>
            <p:spPr bwMode="blackWhite">
              <a:xfrm>
                <a:off x="6953426" y="727564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ko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4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B3E775-D590-A391-C6B7-9DB77DD9B7F3}"/>
                </a:ext>
              </a:extLst>
            </p:cNvPr>
            <p:cNvSpPr txBox="1"/>
            <p:nvPr/>
          </p:nvSpPr>
          <p:spPr>
            <a:xfrm>
              <a:off x="1013033" y="2007703"/>
              <a:ext cx="614785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거래선 대응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삼성전자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LG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전자 등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가전사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신규 디자인 색상 개발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에어컨 실외기 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케미스트리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변경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(Hybrid → Polyester)</a:t>
              </a: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중장비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농기계용 제품 개발 및 런칭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(LS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엠트론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HD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인프라코어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TYM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자동차 외장부품용 제품 개발 및 품질 승인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(KBW, HST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Bonding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메탈릭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제품 개발 및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프로레스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안정화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        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E5AC4C-7705-6F69-A944-31087BBFEAB7}"/>
                </a:ext>
              </a:extLst>
            </p:cNvPr>
            <p:cNvSpPr txBox="1"/>
            <p:nvPr/>
          </p:nvSpPr>
          <p:spPr>
            <a:xfrm>
              <a:off x="1056513" y="5226739"/>
              <a:ext cx="614785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신제품 개발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방열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차열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분체도료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개발 및 열전도성 물질에 대한 이해도 높음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아크릴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Wheel easy cleaning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 개발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고내후성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분체도료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신규 수지 도입 및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System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안정화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Epoxy,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Hybrid, Polyester,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Polyurethane, Acrylic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배합 설계 가능 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SMP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resin,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Biobased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resin, Silicone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resin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 신규 수지 경험 다수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E68D38-DADE-9C04-E094-7A473F30F946}"/>
                </a:ext>
              </a:extLst>
            </p:cNvPr>
            <p:cNvSpPr txBox="1"/>
            <p:nvPr/>
          </p:nvSpPr>
          <p:spPr>
            <a:xfrm>
              <a:off x="1084676" y="3089727"/>
              <a:ext cx="614785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TS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역량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Japan </a:t>
              </a:r>
              <a:r>
                <a:rPr lang="af-ZA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Hino truck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샤시 프레임 라인 안정화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대원강업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삼목강업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HD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인프라코어 등 제품 런칭 및 라인 안정화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자동차 부품용 불량 분석 및 원인 파악 → 품질 불만 해소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</a:t>
              </a:r>
              <a:r>
                <a:rPr lang="en-US" altLang="ko-KR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Nace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class2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자격 획득 이력 있음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INTERPON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D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인증 심사 및 라인 점검 경험 다수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7AFCAC-A741-7FAD-F249-4221A2DF4E86}"/>
                </a:ext>
              </a:extLst>
            </p:cNvPr>
            <p:cNvSpPr txBox="1"/>
            <p:nvPr/>
          </p:nvSpPr>
          <p:spPr>
            <a:xfrm>
              <a:off x="1056512" y="4282864"/>
              <a:ext cx="614785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품질 평가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en-US" altLang="ko-KR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Qualicoat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Class2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품질 평가 및 인증 획득 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GMW14664 type A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국내 제품 승인 획득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자동차 외장 부품용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WOM, QUV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규격별 내후성 평가 및 인증 획득 다수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ISO12944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외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고내식성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평가 진행 및 무전처리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내식성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강화 방안 검토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</a:t>
              </a: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altLang="ko-KR" sz="2400" b="1" dirty="0">
                <a:cs typeface="Segoe UI Light" panose="020B0502040204020203" pitchFamily="34" charset="0"/>
              </a:rPr>
              <a:t>Case Study </a:t>
            </a:r>
            <a:endParaRPr lang="ko-KR" altLang="en-US" sz="2400" b="1" dirty="0">
              <a:cs typeface="Segoe UI Light" panose="020B0502040204020203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4290CF7-65D8-397A-A1C1-2A6D4718B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741349"/>
              </p:ext>
            </p:extLst>
          </p:nvPr>
        </p:nvGraphicFramePr>
        <p:xfrm>
          <a:off x="686571" y="1361128"/>
          <a:ext cx="10732959" cy="504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9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9349">
                  <a:extLst>
                    <a:ext uri="{9D8B030D-6E8A-4147-A177-3AD203B41FA5}">
                      <a16:colId xmlns:a16="http://schemas.microsoft.com/office/drawing/2014/main" val="2966077291"/>
                    </a:ext>
                  </a:extLst>
                </a:gridCol>
                <a:gridCol w="3529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4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6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</a:t>
                      </a:r>
                      <a:endParaRPr lang="en-US" sz="1200" b="0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Detail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dirty="0">
                          <a:latin typeface="+mn-ea"/>
                          <a:ea typeface="+mn-ea"/>
                        </a:rPr>
                        <a:t>Photo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012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 chassis frame (Hino Truck)</a:t>
                      </a:r>
                      <a:endParaRPr lang="en-US" sz="1200" b="0" spc="-100" baseline="0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High </a:t>
                      </a:r>
                      <a:r>
                        <a:rPr lang="en-US" sz="1200" b="0" spc="-100" baseline="0" dirty="0" err="1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Tg</a:t>
                      </a:r>
                      <a:r>
                        <a:rPr 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TGIC Free polyester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High </a:t>
                      </a:r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Tg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 over 80 ℃ ) : clamping force test</a:t>
                      </a:r>
                    </a:p>
                    <a:p>
                      <a:pPr lvl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lvl="1" indent="0">
                        <a:buNone/>
                      </a:pPr>
                      <a:r>
                        <a:rPr lang="en-GB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Edge coverage : Zero sagging </a:t>
                      </a:r>
                    </a:p>
                    <a:p>
                      <a:pPr marL="0" lvl="1" indent="0">
                        <a:buNone/>
                      </a:pPr>
                      <a:r>
                        <a:rPr lang="en-GB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</a:p>
                    <a:p>
                      <a:pPr latinLnBrk="1"/>
                      <a:r>
                        <a:rPr lang="en-GB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Corrosion resistance ( 50</a:t>
                      </a:r>
                      <a:r>
                        <a:rPr lang="en-GB" altLang="ko-KR" sz="1200" dirty="0">
                          <a:latin typeface="Arial" panose="020B0604020202020204" pitchFamily="34" charset="0"/>
                          <a:ea typeface="Cambria Math"/>
                          <a:cs typeface="Arial" panose="020B0604020202020204" pitchFamily="34" charset="0"/>
                        </a:rPr>
                        <a:t>µm 1500 h)</a:t>
                      </a:r>
                    </a:p>
                    <a:p>
                      <a:pPr latinLnBrk="1"/>
                      <a:r>
                        <a:rPr lang="en-GB" altLang="ko-KR" sz="1200" dirty="0">
                          <a:latin typeface="Arial" panose="020B0604020202020204" pitchFamily="34" charset="0"/>
                          <a:ea typeface="Cambria Math"/>
                          <a:cs typeface="Arial" panose="020B0604020202020204" pitchFamily="34" charset="0"/>
                        </a:rPr>
                        <a:t>     -Film thickness of corner part is about 50µm</a:t>
                      </a:r>
                      <a:endParaRPr lang="en-GB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653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Heavy Machine (HD</a:t>
                      </a:r>
                      <a:r>
                        <a:rPr lang="ko-KR" alt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인프라코어</a:t>
                      </a:r>
                      <a:r>
                        <a:rPr lang="en-US" altLang="ko-KR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200" b="0" spc="-100" baseline="0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High weatherability TGIC Free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IPA polyester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US" altLang="ko-KR" sz="1200" b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High weatherability : WOM 2000h (</a:t>
                      </a:r>
                      <a:r>
                        <a:rPr lang="en-US" altLang="ko-KR" sz="1200" b="0" dirty="0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△E &lt;4.0)</a:t>
                      </a:r>
                    </a:p>
                    <a:p>
                      <a:pPr lvl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lvl="1" indent="0">
                        <a:buNone/>
                      </a:pPr>
                      <a:r>
                        <a:rPr lang="en-GB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</a:t>
                      </a:r>
                      <a:r>
                        <a:rPr lang="af-ZA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Good</a:t>
                      </a:r>
                      <a:r>
                        <a:rPr lang="ko-KR" alt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Leveling : DOI over 40</a:t>
                      </a:r>
                      <a:endParaRPr lang="en-GB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lvl="1" indent="0">
                        <a:buNone/>
                      </a:pPr>
                      <a:r>
                        <a:rPr lang="en-GB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</a:p>
                    <a:p>
                      <a:pPr latinLnBrk="1"/>
                      <a:r>
                        <a:rPr lang="en-GB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Orange </a:t>
                      </a:r>
                      <a:r>
                        <a:rPr lang="en-GB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color</a:t>
                      </a:r>
                      <a:r>
                        <a:rPr lang="en-GB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matching : Liquid STD (</a:t>
                      </a:r>
                      <a:r>
                        <a:rPr lang="en-US" altLang="ko-KR" sz="1200" b="0" dirty="0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△E &lt;2.0)</a:t>
                      </a:r>
                      <a:r>
                        <a:rPr lang="ko-KR" alt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200" b="0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65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</a:t>
                      </a:r>
                      <a:r>
                        <a:rPr lang="en-US" sz="1200" b="0" spc="-100" baseline="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ko-KR" sz="1200" dirty="0">
                          <a:latin typeface="+mn-ea"/>
                        </a:rPr>
                        <a:t>runk lid’s c</a:t>
                      </a:r>
                      <a:r>
                        <a:rPr lang="en-US" altLang="ko-KR" sz="1200" b="0" dirty="0">
                          <a:latin typeface="+mn-ea"/>
                        </a:rPr>
                        <a:t>ylinder of car.</a:t>
                      </a:r>
                      <a:endParaRPr lang="en-US" sz="1200" b="0" spc="-100" baseline="0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Phenolic Epoxy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sz="1200" b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NIR Oven application </a:t>
                      </a:r>
                    </a:p>
                    <a:p>
                      <a:r>
                        <a:rPr lang="en-US" sz="1200" b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</a:t>
                      </a:r>
                      <a:r>
                        <a:rPr lang="en-US" altLang="ko-KR" sz="1200" dirty="0">
                          <a:latin typeface="+mn-ea"/>
                        </a:rPr>
                        <a:t>Cure Temp : 205 ℃ X 45 sec  (the top)</a:t>
                      </a:r>
                    </a:p>
                    <a:p>
                      <a:r>
                        <a:rPr lang="en-US" altLang="ko-KR" sz="1200" dirty="0">
                          <a:latin typeface="+mn-ea"/>
                        </a:rPr>
                        <a:t>                         135 ℃ X 45 sec  (the bottom)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200" b="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2. Smoke and smell 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200" b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Good </a:t>
                      </a:r>
                      <a:r>
                        <a:rPr lang="en-US" sz="1200" b="0" dirty="0" err="1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appeareance</a:t>
                      </a:r>
                      <a:endParaRPr lang="en-US" sz="1200" b="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Picture 2" descr="C:\Users\sohwang\Desktop\오토3\일본 Auto\Hino\히노 출장\20151127_144250.jpg">
            <a:extLst>
              <a:ext uri="{FF2B5EF4-FFF2-40B4-BE49-F238E27FC236}">
                <a16:creationId xmlns:a16="http://schemas.microsoft.com/office/drawing/2014/main" id="{5E014B8C-887C-465F-0E9D-FA0FD8FA6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496" y="1864015"/>
            <a:ext cx="2282510" cy="1353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B23F4EE-AC7A-AD7E-6262-78013A2FB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496" y="3354333"/>
            <a:ext cx="2282510" cy="143583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93D3088-9EFB-8E77-B8FB-4539E9E93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9496" y="4926665"/>
            <a:ext cx="2282510" cy="143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{F5E718D9-B911-49D4-815C-2C174053A430}TF2989475c-5427-4edb-9ec1-00f4ce72165be756b0ce_win32-2ff1dad8fff0</Template>
  <TotalTime>1060</TotalTime>
  <Words>704</Words>
  <Application>Microsoft Office PowerPoint</Application>
  <PresentationFormat>와이드스크린</PresentationFormat>
  <Paragraphs>120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Segoe UI Light</vt:lpstr>
      <vt:lpstr>WelcomeDoc</vt:lpstr>
      <vt:lpstr>경력 기술서  </vt:lpstr>
      <vt:lpstr>개요 </vt:lpstr>
      <vt:lpstr>업무 역량</vt:lpstr>
      <vt:lpstr>Case Study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ome16</dc:creator>
  <cp:keywords/>
  <cp:lastModifiedBy>pc06-00</cp:lastModifiedBy>
  <cp:revision>23</cp:revision>
  <dcterms:created xsi:type="dcterms:W3CDTF">2025-12-22T07:48:13Z</dcterms:created>
  <dcterms:modified xsi:type="dcterms:W3CDTF">2026-09-02T07:53:35Z</dcterms:modified>
  <cp:version/>
</cp:coreProperties>
</file>